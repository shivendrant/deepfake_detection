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Team Satyapan from DTU. We are presenting an end-to-end defense system built for Indian companies to stop multi-crore deepfake voice and invoice scams before funds leave the bank.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was this problem statement created? Because modern corporate scams are multi-vector. The Arup ₹200 Crore incident proved that attackers combine cloned audio, fake invoices, and spoofed emails. Indian SMEs have zero automated verification before money is released.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teams build a simple deepfake classifier. But research proves that real-world codecs degrade accuracy by 50%. Relying solely on an AI score creates a dangerous false sense of safety. Satyapan ensures AI scores never decide whether money is paid.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innovation: The Raise-Only Principle. We start with trusted internal company data. If a bank account changes, verification is required by default. External media can only escalate scrutiny, never lower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5 defense layers. Layer 1 hashes everything for legal custody. Layer 2 runs multi-signal detectors in parallel. Layer 3 evaluates rules via the Policy Engine. Layer 4 delivers the user experience on Meet and desktop. Layer 5 provides instant incident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happens in Layers 1 and 2. We inspect every channel in parallel. Our email module verifies headers and catches lookalike domains. Our invoice parser extracts bank accounts to catch account-swaps. Our voice AI scores synthetic frequencies, and our ask extractor catches fraud intent without latency.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3 is the mathematical brain. There are three bands: PASS, VERIFY, and HOLD. Any bank change forces at least VERIFY. Strong anomalies force HOLD. The band is computed before any summary and is never parsed from model text, so a prompt injection can make the prose wrong but cannot change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4 delivers our two client applications. Our Chrome extension protects live video meetings with on-device AI and alert chips. Our React web desk gives finance clerks an interactive cockpit with transaction comparison and one-tap Out-of-Band CFO approval.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5 is our Golden-Hour Recovery Pack. If fraud occurs, every second counts. In one click, our system generates an exact phone script for the 1930 Cyber Helpline with the UTR on line 1, a formal bank freeze notice, and an NCRP cybercrime portal draft.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timeline shows our live test case. In 5 seconds, Satyapan caught the spoofed domain, detected the invoice bank mismatch, flagged the cloned voice on Meet, locked the payment button, and confirmed with the real CFO.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is backed by empirical benchmarks with named limits. On speaker-disjoint In-the-Wild audio under Opus 16 kbps, the voice check reaches AUC 0.909 and EER 16.9%; this is public data, not a Meet-calibrated number. In the injection red-team, 0/90 bands were lowered — that is structural. The local llama3.1:8b echoed 41/88 successful calls; the checker rejected 32 of those 41, and 9/88 final summaries still echoed (2 timeouts). The band is never read from model text; the residual is misleading prose, which is why the template fallback is authoritative. On 31,000 ICFD conversations, the research detector reaches over 94% recall at 1% false alarms; that is the research claim, not the product's.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Satyapan is built specifically for India and hosted in AWS Mumbai. It enforces RBI .bank.in domain rules, understands Hinglish fraud slang, and leverages Amazon S3 Object Lock and Bedrock for legal custody and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social impact extension, we built 'Scam Check' for ordinary citizens. Elders can paste suspicious WhatsApp messages, hear the advice read aloud in Hindi, and tap one button to dial the 1930 helpline.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Satyapan provides true defense-in-depth by anchoring security to payments rather than media alone. It is practical, cost-effective, and ready for Indian enterprises today. Thank you,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097280"/>
            <a:ext cx="3840480" cy="411480"/>
          </a:xfrm>
          <a:prstGeom prst="roundRect">
            <a:avLst/>
          </a:prstGeom>
          <a:solidFill>
            <a:srgbClr val="1E293B"/>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 DTU · RAKSHAM HACKATHON 2026</a:t>
            </a:r>
          </a:p>
        </p:txBody>
      </p:sp>
      <p:sp>
        <p:nvSpPr>
          <p:cNvPr id="3" name="TextBox 2"/>
          <p:cNvSpPr txBox="1"/>
          <p:nvPr/>
        </p:nvSpPr>
        <p:spPr>
          <a:xfrm>
            <a:off x="731520" y="1645920"/>
            <a:ext cx="10515600" cy="2011680"/>
          </a:xfrm>
          <a:prstGeom prst="rect">
            <a:avLst/>
          </a:prstGeom>
          <a:noFill/>
        </p:spPr>
        <p:txBody>
          <a:bodyPr wrap="square">
            <a:spAutoFit/>
          </a:bodyPr>
          <a:lstStyle/>
          <a:p>
            <a:pPr>
              <a:defRPr sz="5000" b="1">
                <a:solidFill>
                  <a:srgbClr val="FFFFFF"/>
                </a:solidFill>
              </a:defRPr>
            </a:pPr>
            <a:r>
              <a:t>SATYAPAN (सत्यापन)</a:t>
            </a:r>
          </a:p>
          <a:p>
            <a:pPr>
              <a:defRPr sz="2200">
                <a:solidFill>
                  <a:srgbClr val="CBD5E1"/>
                </a:solidFill>
              </a:defRPr>
            </a:pPr>
            <a:r>
              <a:t>Transaction-Anchored Deepfake &amp; Financial Fraud Defense for Indian Enterprises</a:t>
            </a:r>
          </a:p>
        </p:txBody>
      </p:sp>
      <p:sp>
        <p:nvSpPr>
          <p:cNvPr id="4" name="Rounded Rectangle 3"/>
          <p:cNvSpPr/>
          <p:nvPr/>
        </p:nvSpPr>
        <p:spPr>
          <a:xfrm>
            <a:off x="731520" y="3840480"/>
            <a:ext cx="10698480" cy="1188720"/>
          </a:xfrm>
          <a:prstGeom prst="roundRect">
            <a:avLst/>
          </a:prstGeom>
          <a:solidFill>
            <a:srgbClr val="1E293B"/>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10332720" cy="1005840"/>
          </a:xfrm>
          <a:prstGeom prst="rect">
            <a:avLst/>
          </a:prstGeom>
          <a:noFill/>
        </p:spPr>
        <p:txBody>
          <a:bodyPr wrap="square">
            <a:spAutoFit/>
          </a:bodyPr>
          <a:lstStyle/>
          <a:p>
            <a:pPr>
              <a:defRPr sz="1600" b="1">
                <a:solidFill>
                  <a:srgbClr val="10B981"/>
                </a:solidFill>
              </a:defRPr>
            </a:pPr>
            <a:r>
              <a:t>Core Thesis: Detectors can be deceived; payment invariants cannot.</a:t>
            </a:r>
          </a:p>
          <a:p>
            <a:pPr>
              <a:defRPr sz="1300">
                <a:solidFill>
                  <a:srgbClr val="E2E8F0"/>
                </a:solidFill>
              </a:defRPr>
            </a:pPr>
            <a:r>
              <a:t>We anchor verification directly to the pending payment. Communications evidence can only raise security scrutiny, never lower it.</a:t>
            </a:r>
          </a:p>
        </p:txBody>
      </p:sp>
      <p:sp>
        <p:nvSpPr>
          <p:cNvPr id="6" name="TextBox 5"/>
          <p:cNvSpPr txBox="1"/>
          <p:nvPr/>
        </p:nvSpPr>
        <p:spPr>
          <a:xfrm>
            <a:off x="731520" y="5303520"/>
            <a:ext cx="10698480" cy="914400"/>
          </a:xfrm>
          <a:prstGeom prst="rect">
            <a:avLst/>
          </a:prstGeom>
          <a:noFill/>
        </p:spPr>
        <p:txBody>
          <a:bodyPr wrap="none">
            <a:spAutoFit/>
          </a:bodyPr>
          <a:lstStyle/>
          <a:p>
            <a:pPr>
              <a:defRPr sz="1300" b="1">
                <a:solidFill>
                  <a:srgbClr val="38BDF8"/>
                </a:solidFill>
              </a:defRPr>
            </a:pPr>
            <a:r>
              <a:t>Team Members: Shivendra (Lead/Arch) · Kartikey (Checkers &amp; Research) · Saarika (Acoustics) · Saksham (UI/Workflows)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Why This Problem? The Real-World Attack Crisis</a:t>
            </a:r>
          </a:p>
        </p:txBody>
      </p:sp>
      <p:sp>
        <p:nvSpPr>
          <p:cNvPr id="4" name="Rounded Rectangle 3"/>
          <p:cNvSpPr/>
          <p:nvPr/>
        </p:nvSpPr>
        <p:spPr>
          <a:xfrm>
            <a:off x="7315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023360"/>
          </a:xfrm>
          <a:prstGeom prst="rect">
            <a:avLst/>
          </a:prstGeom>
          <a:noFill/>
        </p:spPr>
        <p:txBody>
          <a:bodyPr wrap="square">
            <a:spAutoFit/>
          </a:bodyPr>
          <a:lstStyle/>
          <a:p>
            <a:pPr>
              <a:defRPr sz="1800" b="1">
                <a:solidFill>
                  <a:srgbClr val="DC2626"/>
                </a:solidFill>
              </a:defRPr>
            </a:pPr>
            <a:r>
              <a:t>🚨 The Global Precedent</a:t>
            </a:r>
            <a:br/>
            <a:r>
              <a:t>₹200+ Crore Arup Scam</a:t>
            </a:r>
          </a:p>
          <a:p>
            <a:pPr>
              <a:defRPr sz="1200">
                <a:solidFill>
                  <a:srgbClr val="0F172A"/>
                </a:solidFill>
              </a:defRPr>
            </a:pPr>
            <a:r>
              <a:t>• In 2024, a finance executive in Hong Kong paid HK$200M (~₹200 Cr) after a video call with a deepfake CFO and cloned colleagues.</a:t>
            </a:r>
          </a:p>
          <a:p>
            <a:pPr>
              <a:defRPr sz="1200">
                <a:solidFill>
                  <a:srgbClr val="0F172A"/>
                </a:solidFill>
              </a:defRPr>
            </a:pPr>
            <a:r>
              <a:t>• Attackers did NOT need flawless video: they used social engineering, urgency, and familiar faces to force compliance.</a:t>
            </a:r>
          </a:p>
          <a:p>
            <a:pPr>
              <a:defRPr sz="1200">
                <a:solidFill>
                  <a:srgbClr val="0F172A"/>
                </a:solidFill>
              </a:defRPr>
            </a:pPr>
            <a:r>
              <a:t>• Traditional IT security (antivirus, firewalls) was completely blind to this attack vector.</a:t>
            </a:r>
          </a:p>
        </p:txBody>
      </p:sp>
      <p:sp>
        <p:nvSpPr>
          <p:cNvPr id="6" name="Rounded Rectangle 5"/>
          <p:cNvSpPr/>
          <p:nvPr/>
        </p:nvSpPr>
        <p:spPr>
          <a:xfrm>
            <a:off x="43891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023360"/>
          </a:xfrm>
          <a:prstGeom prst="rect">
            <a:avLst/>
          </a:prstGeom>
          <a:noFill/>
        </p:spPr>
        <p:txBody>
          <a:bodyPr wrap="square">
            <a:spAutoFit/>
          </a:bodyPr>
          <a:lstStyle/>
          <a:p>
            <a:pPr>
              <a:defRPr sz="1800" b="1">
                <a:solidFill>
                  <a:srgbClr val="1D4ED8"/>
                </a:solidFill>
              </a:defRPr>
            </a:pPr>
            <a:r>
              <a:t>🇮🇳 The Indian SME Reality</a:t>
            </a:r>
            <a:br/>
            <a:r>
              <a:t>Unprotected AP Teams</a:t>
            </a:r>
          </a:p>
          <a:p>
            <a:pPr>
              <a:defRPr sz="1200">
                <a:solidFill>
                  <a:srgbClr val="0F172A"/>
                </a:solidFill>
              </a:defRPr>
            </a:pPr>
            <a:r>
              <a:t>• Over 1.1 million financial cyber frauds reported annually on the national 1930 portal.</a:t>
            </a:r>
          </a:p>
          <a:p>
            <a:pPr>
              <a:defRPr sz="1200">
                <a:solidFill>
                  <a:srgbClr val="0F172A"/>
                </a:solidFill>
              </a:defRPr>
            </a:pPr>
            <a:r>
              <a:t>• Indian SME Accounts Payable (AP) clerks transfer ₹10L - ₹1Cr daily via RTGS/NEFT.</a:t>
            </a:r>
          </a:p>
          <a:p>
            <a:pPr>
              <a:defRPr sz="1200">
                <a:solidFill>
                  <a:srgbClr val="0F172A"/>
                </a:solidFill>
              </a:defRPr>
            </a:pPr>
            <a:r>
              <a:t>• When an executive receives an urgent WhatsApp voice note sounding like the CEO, they execute it under pressure.</a:t>
            </a:r>
          </a:p>
          <a:p>
            <a:pPr>
              <a:defRPr sz="1200">
                <a:solidFill>
                  <a:srgbClr val="0F172A"/>
                </a:solidFill>
              </a:defRPr>
            </a:pPr>
            <a:r>
              <a:t>• Vendors frequently change banks during routine business, creating the perfect camouflage for hackers.</a:t>
            </a:r>
          </a:p>
        </p:txBody>
      </p:sp>
      <p:sp>
        <p:nvSpPr>
          <p:cNvPr id="8" name="Rounded Rectangle 7"/>
          <p:cNvSpPr/>
          <p:nvPr/>
        </p:nvSpPr>
        <p:spPr>
          <a:xfrm>
            <a:off x="8046720" y="1645920"/>
            <a:ext cx="3383280" cy="43891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023360"/>
          </a:xfrm>
          <a:prstGeom prst="rect">
            <a:avLst/>
          </a:prstGeom>
          <a:noFill/>
        </p:spPr>
        <p:txBody>
          <a:bodyPr wrap="square">
            <a:spAutoFit/>
          </a:bodyPr>
          <a:lstStyle/>
          <a:p>
            <a:pPr>
              <a:defRPr sz="1800" b="1">
                <a:solidFill>
                  <a:srgbClr val="D97706"/>
                </a:solidFill>
              </a:defRPr>
            </a:pPr>
            <a:r>
              <a:t>🕸️ The Multi-Vector Trap</a:t>
            </a:r>
            <a:br/>
            <a:r>
              <a:t>Siloed Tools Fail</a:t>
            </a:r>
          </a:p>
          <a:p>
            <a:pPr>
              <a:defRPr sz="1200">
                <a:solidFill>
                  <a:srgbClr val="0F172A"/>
                </a:solidFill>
              </a:defRPr>
            </a:pPr>
            <a:r>
              <a:t>• Modern fraud is NEVER a single call: it is an orchestrated composite attack.</a:t>
            </a:r>
          </a:p>
          <a:p>
            <a:pPr>
              <a:defRPr sz="1200">
                <a:solidFill>
                  <a:srgbClr val="0F172A"/>
                </a:solidFill>
              </a:defRPr>
            </a:pPr>
            <a:r>
              <a:t>• Vector 1: Look-alike domain email with altered bank account.</a:t>
            </a:r>
          </a:p>
          <a:p>
            <a:pPr>
              <a:defRPr sz="1200">
                <a:solidFill>
                  <a:srgbClr val="0F172A"/>
                </a:solidFill>
              </a:defRPr>
            </a:pPr>
            <a:r>
              <a:t>• Vector 2: Forged PDF invoice with matching new IFSC.</a:t>
            </a:r>
          </a:p>
          <a:p>
            <a:pPr>
              <a:defRPr sz="1200">
                <a:solidFill>
                  <a:srgbClr val="0F172A"/>
                </a:solidFill>
              </a:defRPr>
            </a:pPr>
            <a:r>
              <a:t>• Vector 3: Urgent AI-cloned voice call on Meet or WhatsApp.</a:t>
            </a:r>
          </a:p>
          <a:p>
            <a:pPr>
              <a:defRPr sz="1200">
                <a:solidFill>
                  <a:srgbClr val="0F172A"/>
                </a:solidFill>
              </a:defRPr>
            </a:pPr>
            <a:r>
              <a:t>• Checking email alone or audio alone misses the full picture.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The Blind Spot: Why Pure AI Detectors Fail in Real Life</a:t>
            </a:r>
          </a:p>
        </p:txBody>
      </p:sp>
      <p:sp>
        <p:nvSpPr>
          <p:cNvPr id="4" name="Rounded Rectangle 3"/>
          <p:cNvSpPr/>
          <p:nvPr/>
        </p:nvSpPr>
        <p:spPr>
          <a:xfrm>
            <a:off x="731520" y="1645920"/>
            <a:ext cx="106984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828800"/>
          </a:xfrm>
          <a:prstGeom prst="rect">
            <a:avLst/>
          </a:prstGeom>
          <a:noFill/>
        </p:spPr>
        <p:txBody>
          <a:bodyPr wrap="square">
            <a:spAutoFit/>
          </a:bodyPr>
          <a:lstStyle/>
          <a:p>
            <a:pPr>
              <a:defRPr sz="1800" b="1">
                <a:solidFill>
                  <a:srgbClr val="DC2626"/>
                </a:solidFill>
              </a:defRPr>
            </a:pPr>
            <a:r>
              <a:t>⚠️ Research Reality Check: The 'False Safety' Danger</a:t>
            </a:r>
          </a:p>
          <a:p>
            <a:pPr>
              <a:defRPr sz="1300">
                <a:solidFill>
                  <a:srgbClr val="0F172A"/>
                </a:solidFill>
              </a:defRPr>
            </a:pPr>
            <a:r>
              <a:t>• Academic &amp; In-The-Wild Fragility (Deepfake-Eval-2024): Open-source deepfake detectors lose ~50% AUC when exposed to real-world compression, background noise, and codec artifacts.</a:t>
            </a:r>
          </a:p>
          <a:p>
            <a:pPr>
              <a:defRPr sz="1300">
                <a:solidFill>
                  <a:srgbClr val="0F172A"/>
                </a:solidFill>
              </a:defRPr>
            </a:pPr>
            <a:r>
              <a:t>• Commercial Voice Realism (DF26): Modern voice generators deceive human listeners 47.4% of the time. The best detector achieves only 34.5% AUROC against commercial tools.</a:t>
            </a:r>
          </a:p>
          <a:p>
            <a:pPr>
              <a:defRPr sz="1300">
                <a:solidFill>
                  <a:srgbClr val="0F172A"/>
                </a:solidFill>
              </a:defRPr>
            </a:pPr>
            <a:r>
              <a:t>• The Dangerous Trap: If an AI detector tells a clerk 'This voice is 85% Likely Real', the clerk lets their guard down and releases the payment to the criminal!</a:t>
            </a:r>
          </a:p>
        </p:txBody>
      </p:sp>
      <p:sp>
        <p:nvSpPr>
          <p:cNvPr id="6" name="Rounded Rectangle 5"/>
          <p:cNvSpPr/>
          <p:nvPr/>
        </p:nvSpPr>
        <p:spPr>
          <a:xfrm>
            <a:off x="731520" y="3931920"/>
            <a:ext cx="5212080" cy="210312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023360"/>
            <a:ext cx="4846320" cy="1920240"/>
          </a:xfrm>
          <a:prstGeom prst="rect">
            <a:avLst/>
          </a:prstGeom>
          <a:noFill/>
        </p:spPr>
        <p:txBody>
          <a:bodyPr wrap="square">
            <a:spAutoFit/>
          </a:bodyPr>
          <a:lstStyle/>
          <a:p>
            <a:pPr>
              <a:defRPr sz="1500" b="1">
                <a:solidFill>
                  <a:srgbClr val="DC2626"/>
                </a:solidFill>
              </a:defRPr>
            </a:pPr>
            <a:r>
              <a:t>❌ Flawed Approach: Standalone Deepfake Detector</a:t>
            </a:r>
          </a:p>
          <a:p>
            <a:pPr>
              <a:defRPr sz="1200"/>
            </a:pPr>
            <a:r>
              <a:t>• Relies purely on acoustic or video classifiers.</a:t>
            </a:r>
          </a:p>
          <a:p>
            <a:pPr>
              <a:defRPr sz="1200"/>
            </a:pPr>
            <a:r>
              <a:t>• Can be fooled by prompt injection and audio filters.</a:t>
            </a:r>
          </a:p>
          <a:p>
            <a:pPr>
              <a:defRPr sz="1200"/>
            </a:pPr>
            <a:r>
              <a:t>• Treats high confidence as 'safe to pay'.</a:t>
            </a:r>
          </a:p>
        </p:txBody>
      </p:sp>
      <p:sp>
        <p:nvSpPr>
          <p:cNvPr id="8" name="Rounded Rectangle 7"/>
          <p:cNvSpPr/>
          <p:nvPr/>
        </p:nvSpPr>
        <p:spPr>
          <a:xfrm>
            <a:off x="6217920" y="3931920"/>
            <a:ext cx="5212080" cy="210312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023360"/>
            <a:ext cx="4846320" cy="1920240"/>
          </a:xfrm>
          <a:prstGeom prst="rect">
            <a:avLst/>
          </a:prstGeom>
          <a:noFill/>
        </p:spPr>
        <p:txBody>
          <a:bodyPr wrap="square">
            <a:spAutoFit/>
          </a:bodyPr>
          <a:lstStyle/>
          <a:p>
            <a:pPr>
              <a:defRPr sz="1500" b="1">
                <a:solidFill>
                  <a:srgbClr val="10B981"/>
                </a:solidFill>
              </a:defRPr>
            </a:pPr>
            <a:r>
              <a:t>✅ Satyapan Approach: Transaction-Anchored Policy</a:t>
            </a:r>
          </a:p>
          <a:p>
            <a:pPr>
              <a:defRPr sz="1200"/>
            </a:pPr>
            <a:r>
              <a:t>• Anchored to the financial transaction &amp; vendor ledger.</a:t>
            </a:r>
          </a:p>
          <a:p>
            <a:pPr>
              <a:defRPr sz="1200"/>
            </a:pPr>
            <a:r>
              <a:t>• AI scores can only RAISE scrutiny, NEVER lower it.</a:t>
            </a:r>
          </a:p>
          <a:p>
            <a:pPr>
              <a:defRPr sz="1200"/>
            </a:pPr>
            <a:r>
              <a:t>• Detectors decide WHO verifies, not whether to pay.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Our Innovation: The 'Raise-Only' Policy Principle</a:t>
            </a:r>
          </a:p>
        </p:txBody>
      </p:sp>
      <p:sp>
        <p:nvSpPr>
          <p:cNvPr id="4" name="Rounded Rectangle 3"/>
          <p:cNvSpPr/>
          <p:nvPr/>
        </p:nvSpPr>
        <p:spPr>
          <a:xfrm>
            <a:off x="731520" y="164592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188720"/>
          </a:xfrm>
          <a:prstGeom prst="rect">
            <a:avLst/>
          </a:prstGeom>
          <a:noFill/>
        </p:spPr>
        <p:txBody>
          <a:bodyPr wrap="square">
            <a:spAutoFit/>
          </a:bodyPr>
          <a:lstStyle/>
          <a:p>
            <a:pPr>
              <a:defRPr sz="1600" b="1">
                <a:solidFill>
                  <a:srgbClr val="1D4ED8"/>
                </a:solidFill>
              </a:defRPr>
            </a:pPr>
            <a:r>
              <a:t>1. Deterministic Security Floor (Internal Ledger First)</a:t>
            </a:r>
          </a:p>
          <a:p>
            <a:pPr>
              <a:defRPr sz="1300"/>
            </a:pPr>
            <a:r>
              <a:t>Routine recurring payments to established vendor accounts start at PASS. But ANY vendor bank account, IFSC, or payment method change automatically forces a mandatory baseline floor of VERIFY — regardless of how genuine the caller sounds.</a:t>
            </a:r>
          </a:p>
        </p:txBody>
      </p:sp>
      <p:sp>
        <p:nvSpPr>
          <p:cNvPr id="6" name="Rounded Rectangle 5"/>
          <p:cNvSpPr/>
          <p:nvPr/>
        </p:nvSpPr>
        <p:spPr>
          <a:xfrm>
            <a:off x="731520" y="320040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10332720" cy="1188720"/>
          </a:xfrm>
          <a:prstGeom prst="rect">
            <a:avLst/>
          </a:prstGeom>
          <a:noFill/>
        </p:spPr>
        <p:txBody>
          <a:bodyPr wrap="square">
            <a:spAutoFit/>
          </a:bodyPr>
          <a:lstStyle/>
          <a:p>
            <a:pPr>
              <a:defRPr sz="1600" b="1">
                <a:solidFill>
                  <a:srgbClr val="D97706"/>
                </a:solidFill>
              </a:defRPr>
            </a:pPr>
            <a:r>
              <a:t>2. The 'Raise-Only' Invariant (No AI Downgrades Allowed)</a:t>
            </a:r>
          </a:p>
          <a:p>
            <a:pPr>
              <a:defRPr sz="1300"/>
            </a:pPr>
            <a:r>
              <a:t>Communications evidence (email headers, invoice PDFs, acoustic voice scores) can only ESCALATE risk bands (PASS -&gt; VERIFY -&gt; HOLD). A 'clean' score from an AI model can NEVER lower a security floor. Attackers cannot use polite speech or high-end voice clones to bypass security.</a:t>
            </a:r>
          </a:p>
        </p:txBody>
      </p:sp>
      <p:sp>
        <p:nvSpPr>
          <p:cNvPr id="8" name="Rounded Rectangle 7"/>
          <p:cNvSpPr/>
          <p:nvPr/>
        </p:nvSpPr>
        <p:spPr>
          <a:xfrm>
            <a:off x="731520" y="4754880"/>
            <a:ext cx="10698480" cy="13716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46320"/>
            <a:ext cx="10332720" cy="1188720"/>
          </a:xfrm>
          <a:prstGeom prst="rect">
            <a:avLst/>
          </a:prstGeom>
          <a:noFill/>
        </p:spPr>
        <p:txBody>
          <a:bodyPr wrap="square">
            <a:spAutoFit/>
          </a:bodyPr>
          <a:lstStyle/>
          <a:p>
            <a:pPr>
              <a:defRPr sz="1600" b="1">
                <a:solidFill>
                  <a:srgbClr val="DC2626"/>
                </a:solidFill>
              </a:defRPr>
            </a:pPr>
            <a:r>
              <a:t>3. Multi-Signal Escalation (Lattice Fusion)</a:t>
            </a:r>
          </a:p>
          <a:p>
            <a:pPr>
              <a:defRPr sz="1300"/>
            </a:pPr>
            <a:r>
              <a:t>When multiple independent detectors flag anomalies (e.g. Synthetic Voice score &gt;= threshold + Look-alike domain detected) -&gt; the system triggers an immediate hard HOLD, freezing the payment button and requiring Out-of-Band executive clearance.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System Architecture: The 5 Defense Layers</a:t>
            </a:r>
          </a:p>
        </p:txBody>
      </p:sp>
      <p:sp>
        <p:nvSpPr>
          <p:cNvPr id="4" name="Rounded Rectangle 3"/>
          <p:cNvSpPr/>
          <p:nvPr/>
        </p:nvSpPr>
        <p:spPr>
          <a:xfrm>
            <a:off x="731520" y="1645920"/>
            <a:ext cx="10698480" cy="86868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8288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19072"/>
            <a:ext cx="10149840" cy="731520"/>
          </a:xfrm>
          <a:prstGeom prst="rect">
            <a:avLst/>
          </a:prstGeom>
          <a:noFill/>
        </p:spPr>
        <p:txBody>
          <a:bodyPr wrap="square">
            <a:spAutoFit/>
          </a:bodyPr>
          <a:lstStyle/>
          <a:p>
            <a:pPr>
              <a:defRPr sz="1500" b="1">
                <a:solidFill>
                  <a:srgbClr val="1D4ED8"/>
                </a:solidFill>
              </a:defRPr>
            </a:pPr>
            <a:r>
              <a:t>Layer 1: Intake &amp; Custody Vault</a:t>
            </a:r>
          </a:p>
          <a:p>
            <a:pPr>
              <a:defRPr sz="1200">
                <a:solidFill>
                  <a:srgbClr val="0F172A"/>
                </a:solidFill>
              </a:defRPr>
            </a:pPr>
            <a:r>
              <a:t>SHA-256 fingerprinting before parsing · Tamper-evident hash chain · S3 Object Lock anchor</a:t>
            </a:r>
          </a:p>
        </p:txBody>
      </p:sp>
      <p:sp>
        <p:nvSpPr>
          <p:cNvPr id="7" name="Rounded Rectangle 6"/>
          <p:cNvSpPr/>
          <p:nvPr/>
        </p:nvSpPr>
        <p:spPr>
          <a:xfrm>
            <a:off x="731520" y="2606040"/>
            <a:ext cx="10698480" cy="86868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606040"/>
            <a:ext cx="18288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79192"/>
            <a:ext cx="10149840" cy="731520"/>
          </a:xfrm>
          <a:prstGeom prst="rect">
            <a:avLst/>
          </a:prstGeom>
          <a:noFill/>
        </p:spPr>
        <p:txBody>
          <a:bodyPr wrap="square">
            <a:spAutoFit/>
          </a:bodyPr>
          <a:lstStyle/>
          <a:p>
            <a:pPr>
              <a:defRPr sz="1500" b="1">
                <a:solidFill>
                  <a:srgbClr val="1D4ED8"/>
                </a:solidFill>
              </a:defRPr>
            </a:pPr>
            <a:r>
              <a:t>Layer 2: Multi-Signal Detectors</a:t>
            </a:r>
          </a:p>
          <a:p>
            <a:pPr>
              <a:defRPr sz="1200">
                <a:solidFill>
                  <a:srgbClr val="0F172A"/>
                </a:solidFill>
              </a:defRPr>
            </a:pPr>
            <a:r>
              <a:t>Parallel email parser, domain typo-squatting, PDF invoice regex, ONNX acoustic voice AI, Whisper ASR</a:t>
            </a:r>
          </a:p>
        </p:txBody>
      </p:sp>
      <p:sp>
        <p:nvSpPr>
          <p:cNvPr id="10" name="Rounded Rectangle 9"/>
          <p:cNvSpPr/>
          <p:nvPr/>
        </p:nvSpPr>
        <p:spPr>
          <a:xfrm>
            <a:off x="731520" y="3566160"/>
            <a:ext cx="10698480" cy="868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66160"/>
            <a:ext cx="18288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39312"/>
            <a:ext cx="10149840" cy="731520"/>
          </a:xfrm>
          <a:prstGeom prst="rect">
            <a:avLst/>
          </a:prstGeom>
          <a:noFill/>
        </p:spPr>
        <p:txBody>
          <a:bodyPr wrap="square">
            <a:spAutoFit/>
          </a:bodyPr>
          <a:lstStyle/>
          <a:p>
            <a:pPr>
              <a:defRPr sz="1500" b="1">
                <a:solidFill>
                  <a:srgbClr val="D97706"/>
                </a:solidFill>
              </a:defRPr>
            </a:pPr>
            <a:r>
              <a:t>Layer 3: Policy Engine Brain</a:t>
            </a:r>
          </a:p>
          <a:p>
            <a:pPr>
              <a:defRPr sz="1200">
                <a:solidFill>
                  <a:srgbClr val="0F172A"/>
                </a:solidFill>
              </a:defRPr>
            </a:pPr>
            <a:r>
              <a:t>Deterministic floor table · Raise-only escalation lattice · Mathematical rule execution (Zero LLM hallucinations)</a:t>
            </a:r>
          </a:p>
        </p:txBody>
      </p:sp>
      <p:sp>
        <p:nvSpPr>
          <p:cNvPr id="13" name="Rounded Rectangle 12"/>
          <p:cNvSpPr/>
          <p:nvPr/>
        </p:nvSpPr>
        <p:spPr>
          <a:xfrm>
            <a:off x="731520" y="4526280"/>
            <a:ext cx="10698480"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526280"/>
            <a:ext cx="18288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99432"/>
            <a:ext cx="10149840" cy="731520"/>
          </a:xfrm>
          <a:prstGeom prst="rect">
            <a:avLst/>
          </a:prstGeom>
          <a:noFill/>
        </p:spPr>
        <p:txBody>
          <a:bodyPr wrap="square">
            <a:spAutoFit/>
          </a:bodyPr>
          <a:lstStyle/>
          <a:p>
            <a:pPr>
              <a:defRPr sz="1500" b="1">
                <a:solidFill>
                  <a:srgbClr val="10B981"/>
                </a:solidFill>
              </a:defRPr>
            </a:pPr>
            <a:r>
              <a:t>Layer 4: Real-Time Applications</a:t>
            </a:r>
          </a:p>
          <a:p>
            <a:pPr>
              <a:defRPr sz="1200">
                <a:solidFill>
                  <a:srgbClr val="0F172A"/>
                </a:solidFill>
              </a:defRPr>
            </a:pPr>
            <a:r>
              <a:t>Accounts Payable Console (React) · Google Meet Extension (WebAssembly) · Out-of-Band (OOB) CFO Confirm</a:t>
            </a:r>
          </a:p>
        </p:txBody>
      </p:sp>
      <p:sp>
        <p:nvSpPr>
          <p:cNvPr id="16" name="Rounded Rectangle 15"/>
          <p:cNvSpPr/>
          <p:nvPr/>
        </p:nvSpPr>
        <p:spPr>
          <a:xfrm>
            <a:off x="731520" y="5486400"/>
            <a:ext cx="10698480" cy="8686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486400"/>
            <a:ext cx="18288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559552"/>
            <a:ext cx="10149840" cy="731520"/>
          </a:xfrm>
          <a:prstGeom prst="rect">
            <a:avLst/>
          </a:prstGeom>
          <a:noFill/>
        </p:spPr>
        <p:txBody>
          <a:bodyPr wrap="square">
            <a:spAutoFit/>
          </a:bodyPr>
          <a:lstStyle/>
          <a:p>
            <a:pPr>
              <a:defRPr sz="1500" b="1">
                <a:solidFill>
                  <a:srgbClr val="DC2626"/>
                </a:solidFill>
              </a:defRPr>
            </a:pPr>
            <a:r>
              <a:t>Layer 5: Golden-Hour Incident Pack</a:t>
            </a:r>
          </a:p>
          <a:p>
            <a:pPr>
              <a:defRPr sz="1200">
                <a:solidFill>
                  <a:srgbClr val="0F172A"/>
                </a:solidFill>
              </a:defRPr>
            </a:pPr>
            <a:r>
              <a:t>1-click generation of 1930 Cyber Police calling script (UTR on Line 1) · Bank freeze notice · NCRP complaint draft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Layers 1 &amp; 2: Ingestion &amp; Multi-Signal Detectors</a:t>
            </a:r>
          </a:p>
        </p:txBody>
      </p:sp>
      <p:sp>
        <p:nvSpPr>
          <p:cNvPr id="4" name="Rounded Rectangle 3"/>
          <p:cNvSpPr/>
          <p:nvPr/>
        </p:nvSpPr>
        <p:spPr>
          <a:xfrm>
            <a:off x="731520" y="164592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920240"/>
          </a:xfrm>
          <a:prstGeom prst="rect">
            <a:avLst/>
          </a:prstGeom>
          <a:noFill/>
        </p:spPr>
        <p:txBody>
          <a:bodyPr wrap="square">
            <a:spAutoFit/>
          </a:bodyPr>
          <a:lstStyle/>
          <a:p>
            <a:pPr>
              <a:defRPr sz="1400" b="1">
                <a:solidFill>
                  <a:srgbClr val="1D4ED8"/>
                </a:solidFill>
              </a:defRPr>
            </a:pPr>
            <a:r>
              <a:t>✉️ Email &amp; Domain Checker (T03, T04)</a:t>
            </a:r>
          </a:p>
          <a:p>
            <a:pPr>
              <a:defRPr sz="1100">
                <a:solidFill>
                  <a:srgbClr val="0F172A"/>
                </a:solidFill>
              </a:defRPr>
            </a:pPr>
            <a:r>
              <a:t>• Parses raw .eml RFC 822 messages and MTA headers.</a:t>
            </a:r>
          </a:p>
          <a:p>
            <a:pPr>
              <a:defRPr sz="1100">
                <a:solidFill>
                  <a:srgbClr val="0F172A"/>
                </a:solidFill>
              </a:defRPr>
            </a:pPr>
            <a:r>
              <a:t>• Enforces SPF, DKIM, and DMARC authentication.</a:t>
            </a:r>
          </a:p>
          <a:p>
            <a:pPr>
              <a:defRPr sz="1100">
                <a:solidFill>
                  <a:srgbClr val="0F172A"/>
                </a:solidFill>
              </a:defRPr>
            </a:pPr>
            <a:r>
              <a:t>• Levenshtein distance &amp; Unicode confusables catch look-alike domains (e.g. acme-supp1ies.example).</a:t>
            </a:r>
          </a:p>
          <a:p>
            <a:pPr>
              <a:defRPr sz="1100">
                <a:solidFill>
                  <a:srgbClr val="0F172A"/>
                </a:solidFill>
              </a:defRPr>
            </a:pPr>
            <a:r>
              <a:t>• Enforces RBI mandate: claims of Indian banks must reside on legitimate .bank.in domains.</a:t>
            </a:r>
          </a:p>
        </p:txBody>
      </p:sp>
      <p:sp>
        <p:nvSpPr>
          <p:cNvPr id="6" name="Rounded Rectangle 5"/>
          <p:cNvSpPr/>
          <p:nvPr/>
        </p:nvSpPr>
        <p:spPr>
          <a:xfrm>
            <a:off x="6217920" y="164592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920240"/>
          </a:xfrm>
          <a:prstGeom prst="rect">
            <a:avLst/>
          </a:prstGeom>
          <a:noFill/>
        </p:spPr>
        <p:txBody>
          <a:bodyPr wrap="square">
            <a:spAutoFit/>
          </a:bodyPr>
          <a:lstStyle/>
          <a:p>
            <a:pPr>
              <a:defRPr sz="1400" b="1">
                <a:solidFill>
                  <a:srgbClr val="1D4ED8"/>
                </a:solidFill>
              </a:defRPr>
            </a:pPr>
            <a:r>
              <a:t>📄 Invoice PDF Inspector (T08)</a:t>
            </a:r>
          </a:p>
          <a:p>
            <a:pPr>
              <a:defRPr sz="1100">
                <a:solidFill>
                  <a:srgbClr val="0F172A"/>
                </a:solidFill>
              </a:defRPr>
            </a:pPr>
            <a:r>
              <a:t>• Extracts text, tables, and metadata via pdfplumber.</a:t>
            </a:r>
          </a:p>
          <a:p>
            <a:pPr>
              <a:defRPr sz="1100">
                <a:solidFill>
                  <a:srgbClr val="0F172A"/>
                </a:solidFill>
              </a:defRPr>
            </a:pPr>
            <a:r>
              <a:t>• Regex extraction for 11-digit IFSC, Account Number, GSTIN, UPI IDs, and net amounts.</a:t>
            </a:r>
          </a:p>
          <a:p>
            <a:pPr>
              <a:defRPr sz="1100">
                <a:solidFill>
                  <a:srgbClr val="0F172A"/>
                </a:solidFill>
              </a:defRPr>
            </a:pPr>
            <a:r>
              <a:t>• Master Diff: compares extracted bank details against company's approved vendor ledger.</a:t>
            </a:r>
          </a:p>
          <a:p>
            <a:pPr>
              <a:defRPr sz="1100">
                <a:solidFill>
                  <a:srgbClr val="0F172A"/>
                </a:solidFill>
              </a:defRPr>
            </a:pPr>
            <a:r>
              <a:t>• Detects PDF editing metadata (Acrobat modification artifacts).</a:t>
            </a:r>
          </a:p>
        </p:txBody>
      </p:sp>
      <p:sp>
        <p:nvSpPr>
          <p:cNvPr id="8" name="Rounded Rectangle 7"/>
          <p:cNvSpPr/>
          <p:nvPr/>
        </p:nvSpPr>
        <p:spPr>
          <a:xfrm>
            <a:off x="731520" y="411480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846320" cy="1920240"/>
          </a:xfrm>
          <a:prstGeom prst="rect">
            <a:avLst/>
          </a:prstGeom>
          <a:noFill/>
        </p:spPr>
        <p:txBody>
          <a:bodyPr wrap="square">
            <a:spAutoFit/>
          </a:bodyPr>
          <a:lstStyle/>
          <a:p>
            <a:pPr>
              <a:defRPr sz="1400" b="1">
                <a:solidFill>
                  <a:srgbClr val="1D4ED8"/>
                </a:solidFill>
              </a:defRPr>
            </a:pPr>
            <a:r>
              <a:t>🎙️ Voice AI Acoustic Model (T07, T17)</a:t>
            </a:r>
          </a:p>
          <a:p>
            <a:pPr>
              <a:defRPr sz="1100">
                <a:solidFill>
                  <a:srgbClr val="0F172A"/>
                </a:solidFill>
              </a:defRPr>
            </a:pPr>
            <a:r>
              <a:t>• Acoustic feature extractor running on 5-second PCM windows at 16kHz.</a:t>
            </a:r>
          </a:p>
          <a:p>
            <a:pPr>
              <a:defRPr sz="1100">
                <a:solidFill>
                  <a:srgbClr val="0F172A"/>
                </a:solidFill>
              </a:defRPr>
            </a:pPr>
            <a:r>
              <a:t>• ONNX XLS-R acoustic neural network running on CPU / WebAssembly.</a:t>
            </a:r>
          </a:p>
          <a:p>
            <a:pPr>
              <a:defRPr sz="1100">
                <a:solidFill>
                  <a:srgbClr val="0F172A"/>
                </a:solidFill>
              </a:defRPr>
            </a:pPr>
            <a:r>
              <a:t>• Detects phase and spectral anomalies typical of commercial TTS/voice-cloning engines.</a:t>
            </a:r>
          </a:p>
          <a:p>
            <a:pPr>
              <a:defRPr sz="1100">
                <a:solidFill>
                  <a:srgbClr val="0F172A"/>
                </a:solidFill>
              </a:defRPr>
            </a:pPr>
            <a:r>
              <a:t>• Transcribes speech to text via Whisper in &lt;3.2s latency.</a:t>
            </a:r>
          </a:p>
        </p:txBody>
      </p:sp>
      <p:sp>
        <p:nvSpPr>
          <p:cNvPr id="10" name="Rounded Rectangle 9"/>
          <p:cNvSpPr/>
          <p:nvPr/>
        </p:nvSpPr>
        <p:spPr>
          <a:xfrm>
            <a:off x="6217920" y="4114800"/>
            <a:ext cx="5212080" cy="21945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51960"/>
            <a:ext cx="4846320" cy="1920240"/>
          </a:xfrm>
          <a:prstGeom prst="rect">
            <a:avLst/>
          </a:prstGeom>
          <a:noFill/>
        </p:spPr>
        <p:txBody>
          <a:bodyPr wrap="square">
            <a:spAutoFit/>
          </a:bodyPr>
          <a:lstStyle/>
          <a:p>
            <a:pPr>
              <a:defRPr sz="1400" b="1">
                <a:solidFill>
                  <a:srgbClr val="1D4ED8"/>
                </a:solidFill>
              </a:defRPr>
            </a:pPr>
            <a:r>
              <a:t>⚡ Attacker-Invariant Asks (T05)</a:t>
            </a:r>
          </a:p>
          <a:p>
            <a:pPr>
              <a:defRPr sz="1100">
                <a:solidFill>
                  <a:srgbClr val="0F172A"/>
                </a:solidFill>
              </a:defRPr>
            </a:pPr>
            <a:r>
              <a:t>• Deterministic regex engine scanning for fraud intent (Asks A1 - A7).</a:t>
            </a:r>
          </a:p>
          <a:p>
            <a:pPr>
              <a:defRPr sz="1100">
                <a:solidFill>
                  <a:srgbClr val="0F172A"/>
                </a:solidFill>
              </a:defRPr>
            </a:pPr>
            <a:r>
              <a:t>• Catches urgency, secret escrow requests, credential/OTP demands, and remote desktop installs (AnyDesk).</a:t>
            </a:r>
          </a:p>
          <a:p>
            <a:pPr>
              <a:defRPr sz="1100">
                <a:solidFill>
                  <a:srgbClr val="0F172A"/>
                </a:solidFill>
              </a:defRPr>
            </a:pPr>
            <a:r>
              <a:t>• Zero LLM latency; operates in English, Devanagari Hindi, and romanised Hinglish.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3: The Deterministic Policy Engine</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4389120"/>
          </a:xfrm>
          <a:prstGeom prst="rect">
            <a:avLst/>
          </a:prstGeom>
          <a:noFill/>
        </p:spPr>
        <p:txBody>
          <a:bodyPr wrap="square">
            <a:spAutoFit/>
          </a:bodyPr>
          <a:lstStyle/>
          <a:p>
            <a:pPr>
              <a:defRPr sz="1700" b="1">
                <a:solidFill>
                  <a:srgbClr val="0F172A"/>
                </a:solidFill>
              </a:defRPr>
            </a:pPr>
            <a:r>
              <a:t>Three Deterministic Risk Bands (Governed by Code, Not AI)</a:t>
            </a:r>
          </a:p>
          <a:p>
            <a:br/>
            <a:pPr>
              <a:defRPr sz="1400" b="1">
                <a:solidFill>
                  <a:srgbClr val="10B981"/>
                </a:solidFill>
              </a:defRPr>
            </a:pPr>
            <a:r>
              <a:t>🟢 PASS Band (Routine Execution)</a:t>
            </a:r>
          </a:p>
          <a:p>
            <a:pPr>
              <a:defRPr sz="1200">
                <a:solidFill>
                  <a:srgbClr val="0F172A"/>
                </a:solidFill>
              </a:defRPr>
            </a:pPr>
            <a:r>
              <a:t>Established vendor, historical payment amounts, unchanged bank details, and all detectors clean. Maker proceeds with standard workflow.</a:t>
            </a:r>
          </a:p>
          <a:p>
            <a:br/>
            <a:pPr>
              <a:defRPr sz="1400" b="1">
                <a:solidFill>
                  <a:srgbClr val="D97706"/>
                </a:solidFill>
              </a:defRPr>
            </a:pPr>
            <a:r>
              <a:t>🟡 VERIFY Band (Scrutiny Required)</a:t>
            </a:r>
          </a:p>
          <a:p>
            <a:pPr>
              <a:defRPr sz="1200">
                <a:solidFill>
                  <a:srgbClr val="0F172A"/>
                </a:solidFill>
              </a:defRPr>
            </a:pPr>
            <a:r>
              <a:t>Vendor bank account differs from master ledger, dormant account reactivated, or weak signal flags. Mandatory callback on on-file registered phone number OR Out-of-Band CFO approval required before release.</a:t>
            </a:r>
          </a:p>
          <a:p>
            <a:br/>
            <a:pPr>
              <a:defRPr sz="1400" b="1">
                <a:solidFill>
                  <a:srgbClr val="DC2626"/>
                </a:solidFill>
              </a:defRPr>
            </a:pPr>
            <a:r>
              <a:t>🔴 HOLD Band (Transaction Frozen)</a:t>
            </a:r>
          </a:p>
          <a:p>
            <a:pPr>
              <a:defRPr sz="1200">
                <a:solidFill>
                  <a:srgbClr val="0F172A"/>
                </a:solidFill>
              </a:defRPr>
            </a:pPr>
            <a:r>
              <a:t>Synthetic voice detected (&gt;= 2 consecutive windows), look-alike domain from unauthenticated sender, or OTP/AnyDesk ask. Payment execution button strictly disabled; security notified.</a:t>
            </a:r>
          </a:p>
          <a:p>
            <a:br/>
            <a:pPr>
              <a:defRPr sz="1300" b="1">
                <a:solidFill>
                  <a:srgbClr val="1D4ED8"/>
                </a:solidFill>
              </a:defRPr>
            </a:pPr>
            <a:r>
              <a:t>🛡️ Prompt-Injection Containment:</a:t>
            </a:r>
          </a:p>
          <a:p>
            <a:pPr>
              <a:defRPr sz="1100"/>
            </a:pPr>
            <a:r>
              <a:t>LLMs are restricted to text summarization only and have ZERO write access to security bands. 30 injection samples x 3 cases: 0/90 bands lowered (structural). Local model (ollama:llama3.1:8b) echoed 41/88 successful calls; checker rejected 32/41 echoes; 9/88 final summaries still echoed. Overall checker rejection 69.3%.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4: Real-Time Enterprise Applications</a:t>
            </a:r>
          </a:p>
        </p:txBody>
      </p:sp>
      <p:sp>
        <p:nvSpPr>
          <p:cNvPr id="4" name="Rounded Rectangle 3"/>
          <p:cNvSpPr/>
          <p:nvPr/>
        </p:nvSpPr>
        <p:spPr>
          <a:xfrm>
            <a:off x="7315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06240"/>
          </a:xfrm>
          <a:prstGeom prst="rect">
            <a:avLst/>
          </a:prstGeom>
          <a:noFill/>
        </p:spPr>
        <p:txBody>
          <a:bodyPr wrap="square">
            <a:spAutoFit/>
          </a:bodyPr>
          <a:lstStyle/>
          <a:p>
            <a:pPr>
              <a:defRPr sz="1600" b="1">
                <a:solidFill>
                  <a:srgbClr val="1D4ED8"/>
                </a:solidFill>
              </a:defRPr>
            </a:pPr>
            <a:r>
              <a:t>🎥 Google Meet Chrome Extension</a:t>
            </a:r>
            <a:br/>
            <a:r>
              <a:t>(Live Video &amp; Audio Calls)</a:t>
            </a:r>
          </a:p>
          <a:p>
            <a:pPr>
              <a:defRPr sz="1200"/>
            </a:pPr>
            <a:r>
              <a:t>• Runs on the presenter's browser during live Meet / Teams calls.</a:t>
            </a:r>
          </a:p>
          <a:p>
            <a:pPr>
              <a:defRPr sz="1200"/>
            </a:pPr>
            <a:r>
              <a:t>• Captures remote party's audio stream via chrome.tabCapture API.</a:t>
            </a:r>
          </a:p>
          <a:p>
            <a:pPr>
              <a:defRPr sz="1200"/>
            </a:pPr>
            <a:r>
              <a:t>• On-Device AI Inference: Runs ONNX neural network in WebAssembly (zero cloud audio latency).</a:t>
            </a:r>
          </a:p>
          <a:p>
            <a:pPr>
              <a:defRPr sz="1200"/>
            </a:pPr>
            <a:r>
              <a:t>• Floating Side Panel UI: Displays real-time synthetic voice meter (e.g. 🚨 Likely Synthetic Voice: 94%).</a:t>
            </a:r>
          </a:p>
          <a:p>
            <a:pPr>
              <a:defRPr sz="1200"/>
            </a:pPr>
            <a:r>
              <a:t>• Live Intent Chips: Highlights risky requests on screen in real time: [New Account], [Secrecy], [Bypass Approval].</a:t>
            </a:r>
          </a:p>
        </p:txBody>
      </p:sp>
      <p:sp>
        <p:nvSpPr>
          <p:cNvPr id="6" name="Rounded Rectangle 5"/>
          <p:cNvSpPr/>
          <p:nvPr/>
        </p:nvSpPr>
        <p:spPr>
          <a:xfrm>
            <a:off x="62179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600" b="1">
                <a:solidFill>
                  <a:srgbClr val="10B981"/>
                </a:solidFill>
              </a:defRPr>
            </a:pPr>
            <a:r>
              <a:t>🖥️ Payment Verification Desk</a:t>
            </a:r>
            <a:br/>
            <a:r>
              <a:t>(React + Vite Console)</a:t>
            </a:r>
          </a:p>
          <a:p>
            <a:pPr>
              <a:defRPr sz="1200"/>
            </a:pPr>
            <a:r>
              <a:t>• Dedicated web console for Accounts Payable (Maker / Checker) teams.</a:t>
            </a:r>
          </a:p>
          <a:p>
            <a:pPr>
              <a:defRPr sz="1200"/>
            </a:pPr>
            <a:r>
              <a:t>• Transaction Card: Highlights old vs new bank details, IFSC, and amounts.</a:t>
            </a:r>
          </a:p>
          <a:p>
            <a:pPr>
              <a:defRPr sz="1200"/>
            </a:pPr>
            <a:r>
              <a:t>• Out-of-Band (OOB) CFO Confirm: One-tap button sends instant push/email to real CFO: 'Did you approve this payment?'</a:t>
            </a:r>
          </a:p>
          <a:p>
            <a:pPr>
              <a:defRPr sz="1200"/>
            </a:pPr>
            <a:r>
              <a:t>• Bilingual Explanations: Displays clear Hindi (Devanagari) &amp; English reasons for why payment is held.</a:t>
            </a:r>
          </a:p>
          <a:p>
            <a:pPr>
              <a:defRPr sz="1200"/>
            </a:pPr>
            <a:r>
              <a:t>• Evidence Dossier: Displays verified SHA-256 fingerprints before anyone opens suspicious files.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Layer 5: The 'Golden Hour' Incident Response Pack (T16)</a:t>
            </a:r>
          </a:p>
        </p:txBody>
      </p:sp>
      <p:sp>
        <p:nvSpPr>
          <p:cNvPr id="4" name="Rounded Rectangle 3"/>
          <p:cNvSpPr/>
          <p:nvPr/>
        </p:nvSpPr>
        <p:spPr>
          <a:xfrm>
            <a:off x="731520" y="1645920"/>
            <a:ext cx="10698480" cy="12801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097280"/>
          </a:xfrm>
          <a:prstGeom prst="rect">
            <a:avLst/>
          </a:prstGeom>
          <a:noFill/>
        </p:spPr>
        <p:txBody>
          <a:bodyPr wrap="square">
            <a:spAutoFit/>
          </a:bodyPr>
          <a:lstStyle/>
          <a:p>
            <a:pPr>
              <a:defRPr sz="1600" b="1">
                <a:solidFill>
                  <a:srgbClr val="DC2626"/>
                </a:solidFill>
              </a:defRPr>
            </a:pPr>
            <a:r>
              <a:t>⏱️ The 60-Minute Recovery Window</a:t>
            </a:r>
          </a:p>
          <a:p>
            <a:pPr>
              <a:defRPr sz="1200"/>
            </a:pPr>
            <a:r>
              <a:t>If funds are accidentally transferred, the first 60 minutes ('Golden Hour') are the only window to freeze mule accounts before criminals cash out. Satyapan automates the entire legal and banking emergency response in one click.</a:t>
            </a:r>
          </a:p>
        </p:txBody>
      </p:sp>
      <p:sp>
        <p:nvSpPr>
          <p:cNvPr id="6" name="Rounded Rectangle 5"/>
          <p:cNvSpPr/>
          <p:nvPr/>
        </p:nvSpPr>
        <p:spPr>
          <a:xfrm>
            <a:off x="731520" y="3108960"/>
            <a:ext cx="3383280" cy="310896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246120"/>
            <a:ext cx="3108960" cy="2834640"/>
          </a:xfrm>
          <a:prstGeom prst="rect">
            <a:avLst/>
          </a:prstGeom>
          <a:noFill/>
        </p:spPr>
        <p:txBody>
          <a:bodyPr wrap="square">
            <a:spAutoFit/>
          </a:bodyPr>
          <a:lstStyle/>
          <a:p>
            <a:pPr>
              <a:defRPr sz="1400" b="1">
                <a:solidFill>
                  <a:srgbClr val="1D4ED8"/>
                </a:solidFill>
              </a:defRPr>
            </a:pPr>
            <a:r>
              <a:t>📞 1930 Helpline Call Script</a:t>
            </a:r>
          </a:p>
          <a:p>
            <a:pPr>
              <a:defRPr sz="1100"/>
            </a:pPr>
            <a:r>
              <a:t>• UTR Number on Line 1: Gives the operator the critical transaction ID immediately.</a:t>
            </a:r>
          </a:p>
          <a:p>
            <a:pPr>
              <a:defRPr sz="1100"/>
            </a:pPr>
            <a:r>
              <a:t>• Pre-filled beneficiary account, IFSC, amount (formatted in ₹ Lakhs), and timestamps.</a:t>
            </a:r>
          </a:p>
          <a:p>
            <a:pPr>
              <a:defRPr sz="1100"/>
            </a:pPr>
            <a:r>
              <a:t>• Step-by-step phone dialogue so panicking clerks don't stutter or miss vital facts.</a:t>
            </a:r>
          </a:p>
        </p:txBody>
      </p:sp>
      <p:sp>
        <p:nvSpPr>
          <p:cNvPr id="8" name="Rounded Rectangle 7"/>
          <p:cNvSpPr/>
          <p:nvPr/>
        </p:nvSpPr>
        <p:spPr>
          <a:xfrm>
            <a:off x="4389120" y="3108960"/>
            <a:ext cx="3383280" cy="31089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3246120"/>
            <a:ext cx="3108960" cy="2834640"/>
          </a:xfrm>
          <a:prstGeom prst="rect">
            <a:avLst/>
          </a:prstGeom>
          <a:noFill/>
        </p:spPr>
        <p:txBody>
          <a:bodyPr wrap="square">
            <a:spAutoFit/>
          </a:bodyPr>
          <a:lstStyle/>
          <a:p>
            <a:pPr>
              <a:defRPr sz="1400" b="1">
                <a:solidFill>
                  <a:srgbClr val="D97706"/>
                </a:solidFill>
              </a:defRPr>
            </a:pPr>
            <a:r>
              <a:t>🏦 Bank Nodal Freeze Email</a:t>
            </a:r>
          </a:p>
          <a:p>
            <a:pPr>
              <a:defRPr sz="1100"/>
            </a:pPr>
            <a:r>
              <a:t>• Formal legal request addressed to beneficiary bank's Nodal Fraud Desk.</a:t>
            </a:r>
          </a:p>
          <a:p>
            <a:pPr>
              <a:defRPr sz="1100"/>
            </a:pPr>
            <a:r>
              <a:t>• Formats transaction hashes and evidence references.</a:t>
            </a:r>
          </a:p>
          <a:p>
            <a:pPr>
              <a:defRPr sz="1100"/>
            </a:pPr>
            <a:r>
              <a:t>• Demands immediate lien/freeze on the recipient mule account under RBI guidelines.</a:t>
            </a:r>
          </a:p>
        </p:txBody>
      </p:sp>
      <p:sp>
        <p:nvSpPr>
          <p:cNvPr id="10" name="Rounded Rectangle 9"/>
          <p:cNvSpPr/>
          <p:nvPr/>
        </p:nvSpPr>
        <p:spPr>
          <a:xfrm>
            <a:off x="8046720" y="3108960"/>
            <a:ext cx="3383280" cy="3108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3246120"/>
            <a:ext cx="3108960" cy="2834640"/>
          </a:xfrm>
          <a:prstGeom prst="rect">
            <a:avLst/>
          </a:prstGeom>
          <a:noFill/>
        </p:spPr>
        <p:txBody>
          <a:bodyPr wrap="square">
            <a:spAutoFit/>
          </a:bodyPr>
          <a:lstStyle/>
          <a:p>
            <a:pPr>
              <a:defRPr sz="1400" b="1">
                <a:solidFill>
                  <a:srgbClr val="10B981"/>
                </a:solidFill>
              </a:defRPr>
            </a:pPr>
            <a:r>
              <a:t>🏛️ NCRP Cyber Portal Draft</a:t>
            </a:r>
          </a:p>
          <a:p>
            <a:pPr>
              <a:defRPr sz="1100"/>
            </a:pPr>
            <a:r>
              <a:t>• Pre-filled incident complaint formatted for cybercrime.gov.in.</a:t>
            </a:r>
          </a:p>
          <a:p>
            <a:pPr>
              <a:defRPr sz="1100"/>
            </a:pPr>
            <a:r>
              <a:t>• Includes cryptographic SHA-256 evidence chain.</a:t>
            </a:r>
          </a:p>
          <a:p>
            <a:pPr>
              <a:defRPr sz="1100"/>
            </a:pPr>
            <a:r>
              <a:t>• Human-in-the-Loop: Prepared instantly, reviewed and submitted by the human officer.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Case Study: Neutralizing a ₹48.5 Lakh CEO Attack in 5 Seconds</a:t>
            </a:r>
          </a:p>
        </p:txBody>
      </p:sp>
      <p:sp>
        <p:nvSpPr>
          <p:cNvPr id="4" name="Rounded Rectangle 3"/>
          <p:cNvSpPr/>
          <p:nvPr/>
        </p:nvSpPr>
        <p:spPr>
          <a:xfrm>
            <a:off x="731520" y="164592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3716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6858000" cy="731520"/>
          </a:xfrm>
          <a:prstGeom prst="rect">
            <a:avLst/>
          </a:prstGeom>
          <a:noFill/>
        </p:spPr>
        <p:txBody>
          <a:bodyPr wrap="square">
            <a:spAutoFit/>
          </a:bodyPr>
          <a:lstStyle/>
          <a:p>
            <a:pPr>
              <a:defRPr sz="1300" b="1">
                <a:solidFill>
                  <a:srgbClr val="0F172A"/>
                </a:solidFill>
              </a:defRPr>
            </a:pPr>
            <a:r>
              <a:t>Step 1: The Spoofed Email</a:t>
            </a:r>
          </a:p>
          <a:p>
            <a:pPr>
              <a:defRPr sz="1100">
                <a:solidFill>
                  <a:srgbClr val="475569"/>
                </a:solidFill>
              </a:defRPr>
            </a:pPr>
            <a:r>
              <a:t>Scammer emails Accounts stating vendor bank account changed due to audit (from abc-l0gistics.com).</a:t>
            </a:r>
          </a:p>
        </p:txBody>
      </p:sp>
      <p:sp>
        <p:nvSpPr>
          <p:cNvPr id="7" name="Rounded Rectangle 6"/>
          <p:cNvSpPr/>
          <p:nvPr/>
        </p:nvSpPr>
        <p:spPr>
          <a:xfrm>
            <a:off x="8046720" y="1828800"/>
            <a:ext cx="320040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T04 flags Look-alike Domain</a:t>
            </a:r>
          </a:p>
        </p:txBody>
      </p:sp>
      <p:sp>
        <p:nvSpPr>
          <p:cNvPr id="8" name="Rounded Rectangle 7"/>
          <p:cNvSpPr/>
          <p:nvPr/>
        </p:nvSpPr>
        <p:spPr>
          <a:xfrm>
            <a:off x="731520" y="260604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606040"/>
            <a:ext cx="137160" cy="8686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79192"/>
            <a:ext cx="6858000" cy="731520"/>
          </a:xfrm>
          <a:prstGeom prst="rect">
            <a:avLst/>
          </a:prstGeom>
          <a:noFill/>
        </p:spPr>
        <p:txBody>
          <a:bodyPr wrap="square">
            <a:spAutoFit/>
          </a:bodyPr>
          <a:lstStyle/>
          <a:p>
            <a:pPr>
              <a:defRPr sz="1300" b="1">
                <a:solidFill>
                  <a:srgbClr val="0F172A"/>
                </a:solidFill>
              </a:defRPr>
            </a:pPr>
            <a:r>
              <a:t>Step 2: The Altered Invoice</a:t>
            </a:r>
          </a:p>
          <a:p>
            <a:pPr>
              <a:defRPr sz="1100">
                <a:solidFill>
                  <a:srgbClr val="475569"/>
                </a:solidFill>
              </a:defRPr>
            </a:pPr>
            <a:r>
              <a:t>PDF invoice attached requesting ₹48,50,000 to a new ICICI Bank account.</a:t>
            </a:r>
          </a:p>
        </p:txBody>
      </p:sp>
      <p:sp>
        <p:nvSpPr>
          <p:cNvPr id="11" name="Rounded Rectangle 10"/>
          <p:cNvSpPr/>
          <p:nvPr/>
        </p:nvSpPr>
        <p:spPr>
          <a:xfrm>
            <a:off x="8046720" y="2788920"/>
            <a:ext cx="3200400" cy="502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T08 flags Account Mismatch vs Master</a:t>
            </a:r>
          </a:p>
        </p:txBody>
      </p:sp>
      <p:sp>
        <p:nvSpPr>
          <p:cNvPr id="12" name="Rounded Rectangle 11"/>
          <p:cNvSpPr/>
          <p:nvPr/>
        </p:nvSpPr>
        <p:spPr>
          <a:xfrm>
            <a:off x="731520" y="356616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566160"/>
            <a:ext cx="13716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639312"/>
            <a:ext cx="6858000" cy="731520"/>
          </a:xfrm>
          <a:prstGeom prst="rect">
            <a:avLst/>
          </a:prstGeom>
          <a:noFill/>
        </p:spPr>
        <p:txBody>
          <a:bodyPr wrap="square">
            <a:spAutoFit/>
          </a:bodyPr>
          <a:lstStyle/>
          <a:p>
            <a:pPr>
              <a:defRPr sz="1300" b="1">
                <a:solidFill>
                  <a:srgbClr val="0F172A"/>
                </a:solidFill>
              </a:defRPr>
            </a:pPr>
            <a:r>
              <a:t>Step 3: The Deepfake CEO Call</a:t>
            </a:r>
          </a:p>
          <a:p>
            <a:pPr>
              <a:defRPr sz="1100">
                <a:solidFill>
                  <a:srgbClr val="475569"/>
                </a:solidFill>
              </a:defRPr>
            </a:pPr>
            <a:r>
              <a:t>Scammer joins Google Meet with AI-cloned voice of CFO: 'Wire ₹48.5 Lakhs immediately, confidential acquisition!'</a:t>
            </a:r>
          </a:p>
        </p:txBody>
      </p:sp>
      <p:sp>
        <p:nvSpPr>
          <p:cNvPr id="15" name="Rounded Rectangle 14"/>
          <p:cNvSpPr/>
          <p:nvPr/>
        </p:nvSpPr>
        <p:spPr>
          <a:xfrm>
            <a:off x="8046720" y="3749040"/>
            <a:ext cx="320040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T07 extension triggers Red Synthetic Voice alert (94%)</a:t>
            </a:r>
          </a:p>
        </p:txBody>
      </p:sp>
      <p:sp>
        <p:nvSpPr>
          <p:cNvPr id="16" name="Rounded Rectangle 15"/>
          <p:cNvSpPr/>
          <p:nvPr/>
        </p:nvSpPr>
        <p:spPr>
          <a:xfrm>
            <a:off x="731520" y="452628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526280"/>
            <a:ext cx="137160"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599432"/>
            <a:ext cx="6858000" cy="731520"/>
          </a:xfrm>
          <a:prstGeom prst="rect">
            <a:avLst/>
          </a:prstGeom>
          <a:noFill/>
        </p:spPr>
        <p:txBody>
          <a:bodyPr wrap="square">
            <a:spAutoFit/>
          </a:bodyPr>
          <a:lstStyle/>
          <a:p>
            <a:pPr>
              <a:defRPr sz="1300" b="1">
                <a:solidFill>
                  <a:srgbClr val="0F172A"/>
                </a:solidFill>
              </a:defRPr>
            </a:pPr>
            <a:r>
              <a:t>Step 4: The Automated Lock</a:t>
            </a:r>
          </a:p>
          <a:p>
            <a:pPr>
              <a:defRPr sz="1100">
                <a:solidFill>
                  <a:srgbClr val="475569"/>
                </a:solidFill>
              </a:defRPr>
            </a:pPr>
            <a:r>
              <a:t>Policy Engine evaluates signals: multiple strong anomalies detected -&gt; HARD HOLD. Payment transfer button disabled.</a:t>
            </a:r>
          </a:p>
        </p:txBody>
      </p:sp>
      <p:sp>
        <p:nvSpPr>
          <p:cNvPr id="19" name="Rounded Rectangle 18"/>
          <p:cNvSpPr/>
          <p:nvPr/>
        </p:nvSpPr>
        <p:spPr>
          <a:xfrm>
            <a:off x="8046720" y="4709160"/>
            <a:ext cx="320040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Policy Engine forces HOLD band</a:t>
            </a:r>
          </a:p>
        </p:txBody>
      </p:sp>
      <p:sp>
        <p:nvSpPr>
          <p:cNvPr id="20" name="Rounded Rectangle 19"/>
          <p:cNvSpPr/>
          <p:nvPr/>
        </p:nvSpPr>
        <p:spPr>
          <a:xfrm>
            <a:off x="731520" y="5486400"/>
            <a:ext cx="10698480" cy="868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486400"/>
            <a:ext cx="13716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559552"/>
            <a:ext cx="6858000" cy="731520"/>
          </a:xfrm>
          <a:prstGeom prst="rect">
            <a:avLst/>
          </a:prstGeom>
          <a:noFill/>
        </p:spPr>
        <p:txBody>
          <a:bodyPr wrap="square">
            <a:spAutoFit/>
          </a:bodyPr>
          <a:lstStyle/>
          <a:p>
            <a:pPr>
              <a:defRPr sz="1300" b="1">
                <a:solidFill>
                  <a:srgbClr val="0F172A"/>
                </a:solidFill>
              </a:defRPr>
            </a:pPr>
            <a:r>
              <a:t>Step 5: OOB Verification</a:t>
            </a:r>
          </a:p>
          <a:p>
            <a:pPr>
              <a:defRPr sz="1100">
                <a:solidFill>
                  <a:srgbClr val="475569"/>
                </a:solidFill>
              </a:defRPr>
            </a:pPr>
            <a:r>
              <a:t>Clerk taps 'Confirm with CFO'. Real CFO receives push notification on mobile: 'No, not me!' Case locked as FRAUD.</a:t>
            </a:r>
          </a:p>
        </p:txBody>
      </p:sp>
      <p:sp>
        <p:nvSpPr>
          <p:cNvPr id="23" name="Rounded Rectangle 22"/>
          <p:cNvSpPr/>
          <p:nvPr/>
        </p:nvSpPr>
        <p:spPr>
          <a:xfrm>
            <a:off x="8046720" y="5669280"/>
            <a:ext cx="3200400"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₹48.5 Lakhs Saved in 5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Empirical Validation: Hard Numbers &amp; Benchmarks</a:t>
            </a:r>
          </a:p>
        </p:txBody>
      </p:sp>
      <p:sp>
        <p:nvSpPr>
          <p:cNvPr id="4" name="Rounded Rectangle 3"/>
          <p:cNvSpPr/>
          <p:nvPr/>
        </p:nvSpPr>
        <p:spPr>
          <a:xfrm>
            <a:off x="731520" y="1645920"/>
            <a:ext cx="24688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194560" cy="4206240"/>
          </a:xfrm>
          <a:prstGeom prst="rect">
            <a:avLst/>
          </a:prstGeom>
          <a:noFill/>
        </p:spPr>
        <p:txBody>
          <a:bodyPr wrap="square">
            <a:spAutoFit/>
          </a:bodyPr>
          <a:lstStyle/>
          <a:p>
            <a:pPr algn="ctr">
              <a:defRPr sz="2800" b="1">
                <a:solidFill>
                  <a:srgbClr val="10B981"/>
                </a:solidFill>
              </a:defRPr>
            </a:pPr>
            <a:r>
              <a:t>0.909 AUC</a:t>
            </a:r>
          </a:p>
          <a:p>
            <a:br/>
            <a:pPr algn="ctr">
              <a:defRPr sz="1300" b="1">
                <a:solidFill>
                  <a:srgbClr val="0F172A"/>
                </a:solidFill>
              </a:defRPr>
            </a:pPr>
            <a:r>
              <a:t>In-the-Wild voice</a:t>
            </a:r>
            <a:br/>
            <a:r>
              <a:t>(Opus 16 kbps)</a:t>
            </a:r>
          </a:p>
          <a:p>
            <a:br/>
            <a:pPr>
              <a:defRPr sz="1100">
                <a:solidFill>
                  <a:srgbClr val="475569"/>
                </a:solidFill>
              </a:defRPr>
            </a:pPr>
            <a:r>
              <a:t>Speaker-disjoint public deepfakes: AUC 0.909 [0.857, 0.948], EER 16.9%; 58.3% of fakes flagged at tau_lo, 1.8% of genuine voices flagged. Not a Meet-calibrated number.</a:t>
            </a:r>
          </a:p>
        </p:txBody>
      </p:sp>
      <p:sp>
        <p:nvSpPr>
          <p:cNvPr id="6" name="Rounded Rectangle 5"/>
          <p:cNvSpPr/>
          <p:nvPr/>
        </p:nvSpPr>
        <p:spPr>
          <a:xfrm>
            <a:off x="3474720" y="1645920"/>
            <a:ext cx="24688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194560" cy="4206240"/>
          </a:xfrm>
          <a:prstGeom prst="rect">
            <a:avLst/>
          </a:prstGeom>
          <a:noFill/>
        </p:spPr>
        <p:txBody>
          <a:bodyPr wrap="square">
            <a:spAutoFit/>
          </a:bodyPr>
          <a:lstStyle/>
          <a:p>
            <a:pPr algn="ctr">
              <a:defRPr sz="2800" b="1">
                <a:solidFill>
                  <a:srgbClr val="10B981"/>
                </a:solidFill>
              </a:defRPr>
            </a:pPr>
            <a:r>
              <a:t>0 / 90 Bands Lowered</a:t>
            </a:r>
          </a:p>
          <a:p>
            <a:br/>
            <a:pPr algn="ctr">
              <a:defRPr sz="1300" b="1">
                <a:solidFill>
                  <a:srgbClr val="0F172A"/>
                </a:solidFill>
              </a:defRPr>
            </a:pPr>
            <a:r>
              <a:t>Adversarial Red-Team</a:t>
            </a:r>
            <a:br/>
            <a:r>
              <a:t>Prompt Injections</a:t>
            </a:r>
          </a:p>
          <a:p>
            <a:br/>
            <a:pPr>
              <a:defRPr sz="1100">
                <a:solidFill>
                  <a:srgbClr val="475569"/>
                </a:solidFill>
              </a:defRPr>
            </a:pPr>
            <a:r>
              <a:t>30 samples x 3 cases; 0 lowered is structural. Local model (ollama:llama3.1:8b) echoed 41/88 successful calls; checker rejected 32/41 echoes; 9/88 final summaries still echoed.</a:t>
            </a:r>
          </a:p>
        </p:txBody>
      </p:sp>
      <p:sp>
        <p:nvSpPr>
          <p:cNvPr id="8" name="Rounded Rectangle 7"/>
          <p:cNvSpPr/>
          <p:nvPr/>
        </p:nvSpPr>
        <p:spPr>
          <a:xfrm>
            <a:off x="6217920" y="1645920"/>
            <a:ext cx="2468880" cy="457200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194560" cy="4206240"/>
          </a:xfrm>
          <a:prstGeom prst="rect">
            <a:avLst/>
          </a:prstGeom>
          <a:noFill/>
        </p:spPr>
        <p:txBody>
          <a:bodyPr wrap="square">
            <a:spAutoFit/>
          </a:bodyPr>
          <a:lstStyle/>
          <a:p>
            <a:pPr algn="ctr">
              <a:defRPr sz="2800" b="1">
                <a:solidFill>
                  <a:srgbClr val="1D4ED8"/>
                </a:solidFill>
              </a:defRPr>
            </a:pPr>
            <a:r>
              <a:t>94.3% Recall</a:t>
            </a:r>
          </a:p>
          <a:p>
            <a:br/>
            <a:pPr algn="ctr">
              <a:defRPr sz="1300" b="1">
                <a:solidFill>
                  <a:srgbClr val="0F172A"/>
                </a:solidFill>
              </a:defRPr>
            </a:pPr>
            <a:r>
              <a:t>ICFD-31k Large Benchmark</a:t>
            </a:r>
            <a:br/>
            <a:r>
              <a:t>@ 1% False Alarm Rate</a:t>
            </a:r>
          </a:p>
          <a:p>
            <a:br/>
            <a:pPr>
              <a:defRPr sz="1100">
                <a:solidFill>
                  <a:srgbClr val="475569"/>
                </a:solidFill>
              </a:defRPr>
            </a:pPr>
            <a:r>
              <a:t>Evaluated on 31,000 real conversations with 10,000-resample bootstrap 95% CIs [93.5%, 95.1%].</a:t>
            </a:r>
          </a:p>
        </p:txBody>
      </p:sp>
      <p:sp>
        <p:nvSpPr>
          <p:cNvPr id="10" name="Rounded Rectangle 9"/>
          <p:cNvSpPr/>
          <p:nvPr/>
        </p:nvSpPr>
        <p:spPr>
          <a:xfrm>
            <a:off x="8961120" y="1645920"/>
            <a:ext cx="2468880" cy="45720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194560" cy="4206240"/>
          </a:xfrm>
          <a:prstGeom prst="rect">
            <a:avLst/>
          </a:prstGeom>
          <a:noFill/>
        </p:spPr>
        <p:txBody>
          <a:bodyPr wrap="square">
            <a:spAutoFit/>
          </a:bodyPr>
          <a:lstStyle/>
          <a:p>
            <a:pPr algn="ctr">
              <a:defRPr sz="2800" b="1">
                <a:solidFill>
                  <a:srgbClr val="D97706"/>
                </a:solidFill>
              </a:defRPr>
            </a:pPr>
            <a:r>
              <a:t>8 / 12 Upgraded</a:t>
            </a:r>
          </a:p>
          <a:p>
            <a:br/>
            <a:pPr algn="ctr">
              <a:defRPr sz="1300" b="1">
                <a:solidFill>
                  <a:srgbClr val="0F172A"/>
                </a:solidFill>
              </a:defRPr>
            </a:pPr>
            <a:r>
              <a:t>Decision Relevance</a:t>
            </a:r>
            <a:br/>
            <a:r>
              <a:t>Enterprise Scenarios</a:t>
            </a:r>
          </a:p>
          <a:p>
            <a:br/>
            <a:pPr>
              <a:defRPr sz="1100">
                <a:solidFill>
                  <a:srgbClr val="475569"/>
                </a:solidFill>
              </a:defRPr>
            </a:pPr>
            <a:r>
              <a:t>Detectors changed the rules-only outcome in 8 of 12 team-authored scenarios (illustrative, not a detection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India-First Localization &amp; AWS Mumbai Cloud Architecture</a:t>
            </a:r>
          </a:p>
        </p:txBody>
      </p:sp>
      <p:sp>
        <p:nvSpPr>
          <p:cNvPr id="4" name="Rounded Rectangle 3"/>
          <p:cNvSpPr/>
          <p:nvPr/>
        </p:nvSpPr>
        <p:spPr>
          <a:xfrm>
            <a:off x="7315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206240"/>
          </a:xfrm>
          <a:prstGeom prst="rect">
            <a:avLst/>
          </a:prstGeom>
          <a:noFill/>
        </p:spPr>
        <p:txBody>
          <a:bodyPr wrap="square">
            <a:spAutoFit/>
          </a:bodyPr>
          <a:lstStyle/>
          <a:p>
            <a:pPr>
              <a:defRPr sz="1600" b="1">
                <a:solidFill>
                  <a:srgbClr val="1D4ED8"/>
                </a:solidFill>
              </a:defRPr>
            </a:pPr>
            <a:r>
              <a:t>🇮🇳 Tailored for Indian Ecosystem</a:t>
            </a:r>
          </a:p>
          <a:p>
            <a:pPr>
              <a:defRPr sz="1200"/>
            </a:pPr>
            <a:r>
              <a:t>• RBI .bank.in Domain Rule: Enforces Reserve Bank of India mandates requiring all legitimate bank communications to originate from .bank.in domains.</a:t>
            </a:r>
          </a:p>
          <a:p>
            <a:pPr>
              <a:defRPr sz="1200"/>
            </a:pPr>
            <a:r>
              <a:t>• Indian Accounting Native: Native regex parsers for 11-digit IFSC codes, GSTIN structure, and UPI VPA IDs.</a:t>
            </a:r>
          </a:p>
          <a:p>
            <a:pPr>
              <a:defRPr sz="1200"/>
            </a:pPr>
            <a:r>
              <a:t>• Hinglish &amp; Regional Lexicon: Identifies cultural fraud triggers ('digital arrest', 'bijli connection', 'police FIR', 'OTP batao').</a:t>
            </a:r>
          </a:p>
          <a:p>
            <a:pPr>
              <a:defRPr sz="1200"/>
            </a:pPr>
            <a:r>
              <a:t>• National Crime Portal Alignment: Output forms align 1:1 with national 1930 Cyber Helpline &amp; cybercrime.gov.in.</a:t>
            </a:r>
          </a:p>
        </p:txBody>
      </p:sp>
      <p:sp>
        <p:nvSpPr>
          <p:cNvPr id="6" name="Rounded Rectangle 5"/>
          <p:cNvSpPr/>
          <p:nvPr/>
        </p:nvSpPr>
        <p:spPr>
          <a:xfrm>
            <a:off x="6217920" y="1645920"/>
            <a:ext cx="52120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600" b="1">
                <a:solidFill>
                  <a:srgbClr val="D97706"/>
                </a:solidFill>
              </a:defRPr>
            </a:pPr>
            <a:r>
              <a:t>☁️ AWS ap-south-1 (Mumbai) Deployment</a:t>
            </a:r>
          </a:p>
          <a:p>
            <a:pPr>
              <a:defRPr sz="1200"/>
            </a:pPr>
            <a:r>
              <a:t>• Amazon S3 Object Lock: WORM (Write Once, Read Many) tamper-evident evidence vault compliant with court standards.</a:t>
            </a:r>
          </a:p>
          <a:p>
            <a:pPr>
              <a:defRPr sz="1200"/>
            </a:pPr>
            <a:r>
              <a:t>• Amazon Bedrock (Claude Haiku): Secure in-country AI summaries with zero training retention and strict data privacy.</a:t>
            </a:r>
          </a:p>
          <a:p>
            <a:pPr>
              <a:defRPr sz="1200"/>
            </a:pPr>
            <a:r>
              <a:t>• Amazon SES (Simple Email Service): Cryptographically signed Out-of-Band (OOB) executive verification emails.</a:t>
            </a:r>
          </a:p>
          <a:p>
            <a:pPr>
              <a:defRPr sz="1200"/>
            </a:pPr>
            <a:r>
              <a:t>• Amazon Transcribe (hi-IN / en-IN): High-fidelity regional Indian speech-to-text with local Whisper fallback.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D4ED8"/>
                </a:solidFill>
              </a:defRPr>
            </a:pPr>
            <a:r>
              <a:t>SATYAPAN · RAKSHAM HACKATHON</a:t>
            </a:r>
          </a:p>
        </p:txBody>
      </p:sp>
      <p:sp>
        <p:nvSpPr>
          <p:cNvPr id="3" name="TextBox 2"/>
          <p:cNvSpPr txBox="1"/>
          <p:nvPr/>
        </p:nvSpPr>
        <p:spPr>
          <a:xfrm>
            <a:off x="731520" y="685800"/>
            <a:ext cx="10698480" cy="731520"/>
          </a:xfrm>
          <a:prstGeom prst="rect">
            <a:avLst/>
          </a:prstGeom>
          <a:noFill/>
        </p:spPr>
        <p:txBody>
          <a:bodyPr wrap="square">
            <a:spAutoFit/>
          </a:bodyPr>
          <a:lstStyle/>
          <a:p>
            <a:pPr>
              <a:defRPr sz="2600" b="1">
                <a:solidFill>
                  <a:srgbClr val="0F172A"/>
                </a:solidFill>
              </a:defRPr>
            </a:pPr>
            <a:r>
              <a:t>Social Impact: Citizen 'Scam Check' Mobile Web (T24)</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206240"/>
          </a:xfrm>
          <a:prstGeom prst="rect">
            <a:avLst/>
          </a:prstGeom>
          <a:noFill/>
        </p:spPr>
        <p:txBody>
          <a:bodyPr wrap="square">
            <a:spAutoFit/>
          </a:bodyPr>
          <a:lstStyle/>
          <a:p>
            <a:pPr>
              <a:defRPr sz="1700" b="1">
                <a:solidFill>
                  <a:srgbClr val="1D4ED8"/>
                </a:solidFill>
              </a:defRPr>
            </a:pPr>
            <a:r>
              <a:t>📱 Protecting Ordinary Citizens &amp; Families from Daily WhatsApp Fraud</a:t>
            </a:r>
          </a:p>
          <a:p>
            <a:pPr>
              <a:defRPr sz="1300"/>
            </a:pPr>
            <a:r>
              <a:t>• Mobile-First Web App (console/public/scam-check.html): Extremely lightweight, zero login, accessible on any smartphone.</a:t>
            </a:r>
          </a:p>
          <a:p>
            <a:pPr>
              <a:defRPr sz="1300"/>
            </a:pPr>
            <a:r>
              <a:t>• Paste-and-Check Interface: Users paste suspicious SMS or WhatsApp messages and receive instant coarse advice (HOLD, VERIFY, PASS).</a:t>
            </a:r>
          </a:p>
          <a:p>
            <a:pPr>
              <a:defRPr sz="1300"/>
            </a:pPr>
            <a:r>
              <a:t>• Deterministic 'Impossible Claim' Engine: Catches Digital Arrests ('CBI video call'), Electricity Disconnection threats, Customs release fees, and fake refunds.</a:t>
            </a:r>
          </a:p>
          <a:p>
            <a:pPr>
              <a:defRPr sz="1300"/>
            </a:pPr>
            <a:r>
              <a:t>• Voice Read-Aloud for Elders ('मेरे सुनाइए'): Built-in Web Speech API reads the advice aloud in Hindi (hi-IN) or English for non-literate users.</a:t>
            </a:r>
          </a:p>
          <a:p>
            <a:pPr>
              <a:defRPr sz="1300"/>
            </a:pPr>
            <a:r>
              <a:t>• Emergency Action Hub: Direct tap-to-call '1930' button, official Chakshu &amp; NCRP links, and one-tap WhatsApp share to warn family members.</a:t>
            </a:r>
          </a:p>
          <a:p>
            <a:pPr>
              <a:defRPr sz="1300"/>
            </a:pPr>
            <a:r>
              <a:t>• Safety Architecture: Never reveals forensic scores or detector internals, preventing attackers from reverse-engineering the tool.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097280"/>
            <a:ext cx="10698480" cy="4754880"/>
          </a:xfrm>
          <a:prstGeom prst="rect">
            <a:avLst/>
          </a:prstGeom>
          <a:noFill/>
        </p:spPr>
        <p:txBody>
          <a:bodyPr wrap="square">
            <a:spAutoFit/>
          </a:bodyPr>
          <a:lstStyle/>
          <a:p>
            <a:pPr>
              <a:defRPr sz="3600" b="1">
                <a:solidFill>
                  <a:srgbClr val="FFFFFF"/>
                </a:solidFill>
              </a:defRPr>
            </a:pPr>
            <a:r>
              <a:t>Why Satyapan Wins &amp; The Road Ahead</a:t>
            </a:r>
          </a:p>
          <a:p>
            <a:br/>
            <a:pPr>
              <a:defRPr sz="1600" b="1">
                <a:solidFill>
                  <a:srgbClr val="10B981"/>
                </a:solidFill>
              </a:defRPr>
            </a:pPr>
            <a:r>
              <a:t>1. Why Satyapan Wins:</a:t>
            </a:r>
          </a:p>
          <a:p>
            <a:pPr>
              <a:defRPr sz="1300">
                <a:solidFill>
                  <a:srgbClr val="E2E8F0"/>
                </a:solidFill>
              </a:defRPr>
            </a:pPr>
            <a:r>
              <a:t>   • Deterministic Security + AI Speed: The only system where media detectors cannot create a false sense of safety.</a:t>
            </a:r>
          </a:p>
          <a:p>
            <a:pPr>
              <a:defRPr sz="1300">
                <a:solidFill>
                  <a:srgbClr val="E2E8F0"/>
                </a:solidFill>
              </a:defRPr>
            </a:pPr>
            <a:r>
              <a:t>   • Immediate Production Viability: Works on standard accounting exports (Tally, Zoho, SAP CSVs) with near-zero inference cost.</a:t>
            </a:r>
          </a:p>
          <a:p>
            <a:br/>
            <a:pPr>
              <a:defRPr sz="1600" b="1">
                <a:solidFill>
                  <a:srgbClr val="38BDF8"/>
                </a:solidFill>
              </a:defRPr>
            </a:pPr>
            <a:r>
              <a:t>2. Future Roadmap:</a:t>
            </a:r>
          </a:p>
          <a:p>
            <a:pPr>
              <a:defRPr sz="1300">
                <a:solidFill>
                  <a:srgbClr val="E2E8F0"/>
                </a:solidFill>
              </a:defRPr>
            </a:pPr>
            <a:r>
              <a:t>   • Phase 1 (Now): Google Meet extension + React AP Verification Desk (MVP Fully Built).</a:t>
            </a:r>
          </a:p>
          <a:p>
            <a:pPr>
              <a:defRPr sz="1300">
                <a:solidFill>
                  <a:srgbClr val="E2E8F0"/>
                </a:solidFill>
              </a:defRPr>
            </a:pPr>
            <a:r>
              <a:t>   • Phase 2 (Q3 2026): NPCI Vendor Attestation Standard (QR/UPI dynamic verification extension).</a:t>
            </a:r>
          </a:p>
          <a:p>
            <a:pPr>
              <a:defRPr sz="1300">
                <a:solidFill>
                  <a:srgbClr val="E2E8F0"/>
                </a:solidFill>
              </a:defRPr>
            </a:pPr>
            <a:r>
              <a:t>   • Phase 3 (Q4 2026): Citizen WhatsApp Verification Bot integrated directly with I4C Chakshu.</a:t>
            </a:r>
          </a:p>
          <a:p>
            <a:br/>
            <a:pPr>
              <a:defRPr sz="1400" b="1">
                <a:solidFill>
                  <a:srgbClr val="D97706"/>
                </a:solidFill>
              </a:defRPr>
            </a:pPr>
            <a:r>
              <a:t>🛡️ 'We don't just detect fake faces; we protect Indian enterprises where it matters most: their hard-earned money.'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